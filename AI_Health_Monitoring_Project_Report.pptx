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2fa7c6a-4a21-9ce0-26be-5bd2d3b3d59a}">
          <p14:sldIdLst>
            <p14:sldId id="256"/>
            <p14:sldId id="257"/>
            <p14:sldId id="258"/>
          </p14:sldIdLst>
        </p14:section>
        <p14:section name="Method" id="{79393370-21e6-9d50-c4c7-d40cb698a8ca}">
          <p14:sldIdLst>
            <p14:sldId id="259"/>
            <p14:sldId id="260"/>
            <p14:sldId id="261"/>
          </p14:sldIdLst>
        </p14:section>
        <p14:section name="Results" id="{738b7f56-82c2-9592-4c21-046a93c67766}">
          <p14:sldIdLst>
            <p14:sldId id="262"/>
            <p14:sldId id="263"/>
            <p14:sldId id="264"/>
            <p14:sldId id="265"/>
            <p14:sldId id="266"/>
          </p14:sldIdLst>
        </p14:section>
        <p14:section name="System" id="{b0e738ff-d5e9-c3ac-b213-f7d9aafe96d9}">
          <p14:sldIdLst>
            <p14:sldId id="267"/>
            <p14:sldId id="268"/>
          </p14:sldIdLst>
        </p14:section>
        <p14:section name="Conclusion" id="{92e8cbaf-777d-29ad-4412-a0f38dcbd08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40"/>
                </a:solidFill>
                <a:latin typeface="+mn-lt"/>
              </a:rPr>
              <a:t>Labelled 1-minute windows per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rgbClr val="0F8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8A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B21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03B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250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Warning</c:v>
                  </c:pt>
                  <c:pt idx="2">
                    <c:v>Critical</c:v>
                  </c:pt>
                  <c:pt idx="3">
                    <c:v>Sensor fault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48914</c:v>
                </c:pt>
                <c:pt idx="1">
                  <c:v>6529</c:v>
                </c:pt>
                <c:pt idx="2">
                  <c:v>7236</c:v>
                </c:pt>
                <c:pt idx="3">
                  <c:v>1971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40"/>
                </a:solidFill>
                <a:latin typeface="+mn-lt"/>
              </a:rPr>
              <a:t>Macro F1 on 10 held-out patients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8A8F9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F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F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8F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8F9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8A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Threshold rule</c:v>
                  </c:pt>
                  <c:pt idx="1">
                    <c:v>Logistic Reg.</c:v>
                  </c:pt>
                  <c:pt idx="2">
                    <c:v>Gradient Boost.</c:v>
                  </c:pt>
                  <c:pt idx="3">
                    <c:v>Random Forest</c:v>
                  </c:pt>
                  <c:pt idx="4">
                    <c:v>MLP (deployed)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0.683</c:v>
                </c:pt>
                <c:pt idx="1">
                  <c:v>0.367</c:v>
                </c:pt>
                <c:pt idx="2">
                  <c:v>0.868</c:v>
                </c:pt>
                <c:pt idx="3">
                  <c:v>0.895</c:v>
                </c:pt>
                <c:pt idx="4">
                  <c:v>0.889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rule</c:v>
                </c:pt>
              </c:strCache>
            </c:strRef>
          </c:tx>
          <c:spPr>
            <a:solidFill>
              <a:srgbClr val="8A8F9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Warning</c:v>
                  </c:pt>
                  <c:pt idx="2">
                    <c:v>Critical</c:v>
                  </c:pt>
                  <c:pt idx="3">
                    <c:v>Sensor fault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0.733</c:v>
                </c:pt>
                <c:pt idx="1">
                  <c:v>0.894</c:v>
                </c:pt>
                <c:pt idx="2">
                  <c:v>0.792</c:v>
                </c:pt>
                <c:pt idx="3">
                  <c:v>0.485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(MLP)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Warning</c:v>
                  </c:pt>
                  <c:pt idx="2">
                    <c:v>Critical</c:v>
                  </c:pt>
                  <c:pt idx="3">
                    <c:v>Sensor fault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0.977</c:v>
                </c:pt>
                <c:pt idx="1">
                  <c:v>0.845</c:v>
                </c:pt>
                <c:pt idx="2">
                  <c:v>0.943</c:v>
                </c:pt>
                <c:pt idx="3">
                  <c:v>0.704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40"/>
                </a:solidFill>
                <a:latin typeface="+mn-lt"/>
              </a:rPr>
              <a:t>False alarms per hour vs consecutive windows required (K)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rule</c:v>
                </c:pt>
              </c:strCache>
            </c:strRef>
          </c:tx>
          <c:spPr>
            <a:solidFill>
              <a:srgbClr val="8A8F9C"/>
            </a:solidFill>
            <a:ln w="31750" cap="flat">
              <a:solidFill>
                <a:srgbClr val="8A8F9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8A8F9C"/>
              </a:solidFill>
              <a:ln w="9525" cap="flat">
                <a:solidFill>
                  <a:srgbClr val="8A8F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9.59</c:v>
                </c:pt>
                <c:pt idx="1">
                  <c:v>4.59</c:v>
                </c:pt>
                <c:pt idx="2">
                  <c:v>3.02</c:v>
                </c:pt>
                <c:pt idx="3">
                  <c:v>2.49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(MLP)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3.83</c:v>
                </c:pt>
                <c:pt idx="1">
                  <c:v>1.72</c:v>
                </c:pt>
                <c:pt idx="2">
                  <c:v>1.05</c:v>
                </c:pt>
                <c:pt idx="3">
                  <c:v>0.74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54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540"/>
                </a:solidFill>
                <a:latin typeface="+mn-lt"/>
              </a:rPr>
              <a:t>Permutation importance (drop in macro F1)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hr_min</c:v>
                  </c:pt>
                  <c:pt idx="1">
                    <c:v>hr_mean</c:v>
                  </c:pt>
                  <c:pt idx="2">
                    <c:v>hr_last</c:v>
                  </c:pt>
                  <c:pt idx="3">
                    <c:v>motion_mean</c:v>
                  </c:pt>
                  <c:pt idx="4">
                    <c:v>temp_last</c:v>
                  </c:pt>
                  <c:pt idx="5">
                    <c:v>temp_slope</c:v>
                  </c:pt>
                  <c:pt idx="6">
                    <c:v>temp_std</c:v>
                  </c:pt>
                  <c:pt idx="7">
                    <c:v>hr_std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0.327</c:v>
                </c:pt>
                <c:pt idx="1">
                  <c:v>0.28</c:v>
                </c:pt>
                <c:pt idx="2">
                  <c:v>0.224</c:v>
                </c:pt>
                <c:pt idx="3">
                  <c:v>0.146</c:v>
                </c:pt>
                <c:pt idx="4">
                  <c:v>0.141</c:v>
                </c:pt>
                <c:pt idx="5">
                  <c:v>0.108</c:v>
                </c:pt>
                <c:pt idx="6">
                  <c:v>0.088</c:v>
                </c:pt>
                <c:pt idx="7">
                  <c:v>0.085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project builds a monitoring pipeline for heart rate, body temperature and motion from a wearable, and compares an AI model against a textbook threshold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motivating problem. The headline number comes from this project's held-out evaluation: normal windows with high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ce_light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4892040"/>
            <a:ext cx="12188952" cy="16276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AI-Based Health Monitoring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ce_light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4206240"/>
            <a:ext cx="12188952" cy="16276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AI-Based Health Monitoring System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Project report: classifying wearable vitals into normal, warning, critical and sensor-fault states, with alerts that fire only when it matters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Threshold alarms cannot tell exercise from illness</a:t>
            </a:r>
            <a:endParaRPr lang="en-US" sz="3200" dirty="0"/>
          </a:p>
        </p:txBody>
      </p:sp>
      <p:sp>
        <p:nvSpPr>
          <p:cNvPr id="3" name="problem bullets"/>
          <p:cNvSpPr txBox="1"/>
          <p:nvPr/>
        </p:nvSpPr>
        <p:spPr>
          <a:xfrm>
            <a:off x="548640" y="13716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Bedside and wearable monitors usually alarm on fixed ranges: heart rate outside 60-100 bpm, temperature outside 36.1-37.5 °C.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fixed range ignores context. A brisk walk pushes heart rate past 100 and the rule raises a warning for a healthy patient.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 false alarm costs staff attention, and too many lead to alarms being ignored.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Faulty sensors (a loose strap, a stuck reading) look like emergencies or like normal data.</a:t>
            </a:r>
            <a:endParaRPr lang="en-US" sz="1700" dirty="0"/>
          </a:p>
        </p:txBody>
      </p:sp>
      <p:sp>
        <p:nvSpPr>
          <p:cNvPr id="4" name="exercise stat card"/>
          <p:cNvSpPr/>
          <p:nvPr/>
        </p:nvSpPr>
        <p:spPr>
          <a:xfrm>
            <a:off x="7406640" y="1371600"/>
            <a:ext cx="4206240" cy="42062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" name="runn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91640"/>
            <a:ext cx="640080" cy="640080"/>
          </a:xfrm>
          <a:prstGeom prst="rect">
            <a:avLst/>
          </a:prstGeom>
        </p:spPr>
      </p:pic>
      <p:sp>
        <p:nvSpPr>
          <p:cNvPr id="6" name="exercise rule value"/>
          <p:cNvSpPr txBox="1"/>
          <p:nvPr/>
        </p:nvSpPr>
        <p:spPr>
          <a:xfrm>
            <a:off x="7772400" y="2514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7200" dirty="0"/>
          </a:p>
        </p:txBody>
      </p:sp>
      <p:sp>
        <p:nvSpPr>
          <p:cNvPr id="7" name="exercise rule label"/>
          <p:cNvSpPr txBox="1"/>
          <p:nvPr/>
        </p:nvSpPr>
        <p:spPr>
          <a:xfrm>
            <a:off x="777240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 healthy exercise windows are flagged abnormal by the threshold rule (2,154 test windows)</a:t>
            </a:r>
            <a:endParaRPr lang="en-US" sz="1500" dirty="0"/>
          </a:p>
        </p:txBody>
      </p:sp>
      <p:sp>
        <p:nvSpPr>
          <p:cNvPr id="8" name="exercise ai value"/>
          <p:cNvSpPr txBox="1"/>
          <p:nvPr/>
        </p:nvSpPr>
        <p:spPr>
          <a:xfrm>
            <a:off x="7772400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AI model: 0.2%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objective 1 card"/>
          <p:cNvSpPr/>
          <p:nvPr/>
        </p:nvSpPr>
        <p:spPr>
          <a:xfrm>
            <a:off x="548640" y="1417320"/>
            <a:ext cx="5394960" cy="20116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4" name="objectiv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objective 1 heading"/>
          <p:cNvSpPr txBox="1"/>
          <p:nvPr/>
        </p:nvSpPr>
        <p:spPr>
          <a:xfrm>
            <a:off x="173736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Classify every sample into four states</a:t>
            </a:r>
            <a:endParaRPr lang="en-US" sz="1900" dirty="0"/>
          </a:p>
        </p:txBody>
      </p:sp>
      <p:sp>
        <p:nvSpPr>
          <p:cNvPr id="6" name="objective 1 text"/>
          <p:cNvSpPr txBox="1"/>
          <p:nvPr/>
        </p:nvSpPr>
        <p:spPr>
          <a:xfrm>
            <a:off x="173736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NORMAL, WARNING, CRITICAL and SENSOR_FAULT from heart rate, temperature and motion.</a:t>
            </a:r>
            <a:endParaRPr lang="en-US" sz="1500" dirty="0"/>
          </a:p>
        </p:txBody>
      </p:sp>
      <p:sp>
        <p:nvSpPr>
          <p:cNvPr id="7" name="objective 2 card"/>
          <p:cNvSpPr/>
          <p:nvPr/>
        </p:nvSpPr>
        <p:spPr>
          <a:xfrm>
            <a:off x="6217920" y="1417320"/>
            <a:ext cx="5394960" cy="20116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8" name="objectiv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594360" cy="594360"/>
          </a:xfrm>
          <a:prstGeom prst="rect">
            <a:avLst/>
          </a:prstGeom>
        </p:spPr>
      </p:pic>
      <p:sp>
        <p:nvSpPr>
          <p:cNvPr id="9" name="objective 2 heading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Cut false alarms without missing events</a:t>
            </a:r>
            <a:endParaRPr lang="en-US" sz="1900" dirty="0"/>
          </a:p>
        </p:txBody>
      </p:sp>
      <p:sp>
        <p:nvSpPr>
          <p:cNvPr id="10" name="objective 2 text"/>
          <p:cNvSpPr txBox="1"/>
          <p:nvPr/>
        </p:nvSpPr>
        <p:spPr>
          <a:xfrm>
            <a:off x="740664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Beat the threshold rule on false alarms per hour while catching every critical event.</a:t>
            </a:r>
            <a:endParaRPr lang="en-US" sz="1500" dirty="0"/>
          </a:p>
        </p:txBody>
      </p:sp>
      <p:sp>
        <p:nvSpPr>
          <p:cNvPr id="11" name="objective 3 card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2" name="objectiv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594360" cy="594360"/>
          </a:xfrm>
          <a:prstGeom prst="rect">
            <a:avLst/>
          </a:prstGeom>
        </p:spPr>
      </p:pic>
      <p:sp>
        <p:nvSpPr>
          <p:cNvPr id="13" name="objective 3 heading"/>
          <p:cNvSpPr txBox="1"/>
          <p:nvPr/>
        </p:nvSpPr>
        <p:spPr>
          <a:xfrm>
            <a:off x="173736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Recognise faulty sensors</a:t>
            </a:r>
            <a:endParaRPr lang="en-US" sz="1900" dirty="0"/>
          </a:p>
        </p:txBody>
      </p:sp>
      <p:sp>
        <p:nvSpPr>
          <p:cNvPr id="14" name="objective 3 text"/>
          <p:cNvSpPr txBox="1"/>
          <p:nvPr/>
        </p:nvSpPr>
        <p:spPr>
          <a:xfrm>
            <a:off x="1737360" y="4754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Separate dropouts, spikes and stuck readings from real physiological change.</a:t>
            </a:r>
            <a:endParaRPr lang="en-US" sz="1500" dirty="0"/>
          </a:p>
        </p:txBody>
      </p:sp>
      <p:sp>
        <p:nvSpPr>
          <p:cNvPr id="15" name="objective 4 card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6" name="objectiv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14800"/>
            <a:ext cx="594360" cy="594360"/>
          </a:xfrm>
          <a:prstGeom prst="rect">
            <a:avLst/>
          </a:prstGeom>
        </p:spPr>
      </p:pic>
      <p:sp>
        <p:nvSpPr>
          <p:cNvPr id="17" name="objective 4 heading"/>
          <p:cNvSpPr txBox="1"/>
          <p:nvPr/>
        </p:nvSpPr>
        <p:spPr>
          <a:xfrm>
            <a:off x="740664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Run in real time on small hardware</a:t>
            </a:r>
            <a:endParaRPr lang="en-US" sz="1900" dirty="0"/>
          </a:p>
        </p:txBody>
      </p:sp>
      <p:sp>
        <p:nvSpPr>
          <p:cNvPr id="18" name="objective 4 text"/>
          <p:cNvSpPr txBox="1"/>
          <p:nvPr/>
        </p:nvSpPr>
        <p:spPr>
          <a:xfrm>
            <a:off x="7406640" y="4754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Sub-millisecond predictions and a model small enough for an edge device.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overview: from sensor stream to alert</a:t>
            </a:r>
            <a:endParaRPr lang="en-US" sz="3200" dirty="0"/>
          </a:p>
        </p:txBody>
      </p:sp>
      <p:sp>
        <p:nvSpPr>
          <p:cNvPr id="3" name="step 1 circle"/>
          <p:cNvSpPr/>
          <p:nvPr/>
        </p:nvSpPr>
        <p:spPr>
          <a:xfrm>
            <a:off x="937260" y="173736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1947672"/>
            <a:ext cx="493776" cy="493776"/>
          </a:xfrm>
          <a:prstGeom prst="rect">
            <a:avLst/>
          </a:prstGeom>
        </p:spPr>
      </p:pic>
      <p:sp>
        <p:nvSpPr>
          <p:cNvPr id="5" name="step 1 arrow"/>
          <p:cNvSpPr/>
          <p:nvPr/>
        </p:nvSpPr>
        <p:spPr>
          <a:xfrm>
            <a:off x="1943100" y="2194560"/>
            <a:ext cx="777240" cy="0"/>
          </a:xfrm>
          <a:prstGeom prst="line">
            <a:avLst/>
          </a:prstGeom>
          <a:noFill/>
          <a:ln w="19050">
            <a:solidFill>
              <a:srgbClr val="8A8F9C"/>
            </a:solidFill>
            <a:prstDash val="solid"/>
            <a:tailEnd type="triangle"/>
          </a:ln>
        </p:spPr>
      </p:sp>
      <p:sp>
        <p:nvSpPr>
          <p:cNvPr id="6" name="step 1 heading"/>
          <p:cNvSpPr txBox="1"/>
          <p:nvPr/>
        </p:nvSpPr>
        <p:spPr>
          <a:xfrm>
            <a:off x="54864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Wearable stream</a:t>
            </a:r>
            <a:endParaRPr lang="en-US" sz="1600" dirty="0"/>
          </a:p>
        </p:txBody>
      </p:sp>
      <p:sp>
        <p:nvSpPr>
          <p:cNvPr id="7" name="step 1 text"/>
          <p:cNvSpPr txBox="1"/>
          <p:nvPr/>
        </p:nvSpPr>
        <p:spPr>
          <a:xfrm>
            <a:off x="548640" y="32918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HR, temperature, motion every 10 s</a:t>
            </a:r>
            <a:endParaRPr lang="en-US" sz="1300" dirty="0"/>
          </a:p>
        </p:txBody>
      </p:sp>
      <p:sp>
        <p:nvSpPr>
          <p:cNvPr id="8" name="step 2 circle"/>
          <p:cNvSpPr/>
          <p:nvPr/>
        </p:nvSpPr>
        <p:spPr>
          <a:xfrm>
            <a:off x="2811780" y="173736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092" y="1947672"/>
            <a:ext cx="493776" cy="493776"/>
          </a:xfrm>
          <a:prstGeom prst="rect">
            <a:avLst/>
          </a:prstGeom>
        </p:spPr>
      </p:pic>
      <p:sp>
        <p:nvSpPr>
          <p:cNvPr id="10" name="step 2 arrow"/>
          <p:cNvSpPr/>
          <p:nvPr/>
        </p:nvSpPr>
        <p:spPr>
          <a:xfrm>
            <a:off x="3817620" y="2194560"/>
            <a:ext cx="777240" cy="0"/>
          </a:xfrm>
          <a:prstGeom prst="line">
            <a:avLst/>
          </a:prstGeom>
          <a:noFill/>
          <a:ln w="19050">
            <a:solidFill>
              <a:srgbClr val="8A8F9C"/>
            </a:solidFill>
            <a:prstDash val="solid"/>
            <a:tailEnd type="triangle"/>
          </a:ln>
        </p:spPr>
      </p:sp>
      <p:sp>
        <p:nvSpPr>
          <p:cNvPr id="11" name="step 2 heading"/>
          <p:cNvSpPr txBox="1"/>
          <p:nvPr/>
        </p:nvSpPr>
        <p:spPr>
          <a:xfrm>
            <a:off x="242316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1-minute window</a:t>
            </a:r>
            <a:endParaRPr lang="en-US" sz="1600" dirty="0"/>
          </a:p>
        </p:txBody>
      </p:sp>
      <p:sp>
        <p:nvSpPr>
          <p:cNvPr id="12" name="step 2 text"/>
          <p:cNvSpPr txBox="1"/>
          <p:nvPr/>
        </p:nvSpPr>
        <p:spPr>
          <a:xfrm>
            <a:off x="2423160" y="32918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Last 6 samples in a rolling buffer</a:t>
            </a:r>
            <a:endParaRPr lang="en-US" sz="1300" dirty="0"/>
          </a:p>
        </p:txBody>
      </p:sp>
      <p:sp>
        <p:nvSpPr>
          <p:cNvPr id="13" name="step 3 circle"/>
          <p:cNvSpPr/>
          <p:nvPr/>
        </p:nvSpPr>
        <p:spPr>
          <a:xfrm>
            <a:off x="4686300" y="173736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1947672"/>
            <a:ext cx="493776" cy="493776"/>
          </a:xfrm>
          <a:prstGeom prst="rect">
            <a:avLst/>
          </a:prstGeom>
        </p:spPr>
      </p:pic>
      <p:sp>
        <p:nvSpPr>
          <p:cNvPr id="15" name="step 3 arrow"/>
          <p:cNvSpPr/>
          <p:nvPr/>
        </p:nvSpPr>
        <p:spPr>
          <a:xfrm>
            <a:off x="5692140" y="2194560"/>
            <a:ext cx="777240" cy="0"/>
          </a:xfrm>
          <a:prstGeom prst="line">
            <a:avLst/>
          </a:prstGeom>
          <a:noFill/>
          <a:ln w="19050">
            <a:solidFill>
              <a:srgbClr val="8A8F9C"/>
            </a:solidFill>
            <a:prstDash val="solid"/>
            <a:tailEnd type="triangle"/>
          </a:ln>
        </p:spPr>
      </p:sp>
      <p:sp>
        <p:nvSpPr>
          <p:cNvPr id="16" name="step 3 heading"/>
          <p:cNvSpPr txBox="1"/>
          <p:nvPr/>
        </p:nvSpPr>
        <p:spPr>
          <a:xfrm>
            <a:off x="429768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features</a:t>
            </a:r>
            <a:endParaRPr lang="en-US" sz="1600" dirty="0"/>
          </a:p>
        </p:txBody>
      </p:sp>
      <p:sp>
        <p:nvSpPr>
          <p:cNvPr id="17" name="step 3 text"/>
          <p:cNvSpPr txBox="1"/>
          <p:nvPr/>
        </p:nvSpPr>
        <p:spPr>
          <a:xfrm>
            <a:off x="4297680" y="32918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Level, spread, range and trend per signal</a:t>
            </a:r>
            <a:endParaRPr lang="en-US" sz="1300" dirty="0"/>
          </a:p>
        </p:txBody>
      </p:sp>
      <p:sp>
        <p:nvSpPr>
          <p:cNvPr id="18" name="step 4 circle"/>
          <p:cNvSpPr/>
          <p:nvPr/>
        </p:nvSpPr>
        <p:spPr>
          <a:xfrm>
            <a:off x="6560820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1947672"/>
            <a:ext cx="493776" cy="493776"/>
          </a:xfrm>
          <a:prstGeom prst="rect">
            <a:avLst/>
          </a:prstGeom>
        </p:spPr>
      </p:pic>
      <p:sp>
        <p:nvSpPr>
          <p:cNvPr id="20" name="step 4 arrow"/>
          <p:cNvSpPr/>
          <p:nvPr/>
        </p:nvSpPr>
        <p:spPr>
          <a:xfrm>
            <a:off x="7566660" y="2194560"/>
            <a:ext cx="777240" cy="0"/>
          </a:xfrm>
          <a:prstGeom prst="line">
            <a:avLst/>
          </a:prstGeom>
          <a:noFill/>
          <a:ln w="19050">
            <a:solidFill>
              <a:srgbClr val="8A8F9C"/>
            </a:solidFill>
            <a:prstDash val="solid"/>
            <a:tailEnd type="triangle"/>
          </a:ln>
        </p:spPr>
      </p:sp>
      <p:sp>
        <p:nvSpPr>
          <p:cNvPr id="21" name="step 4 heading"/>
          <p:cNvSpPr txBox="1"/>
          <p:nvPr/>
        </p:nvSpPr>
        <p:spPr>
          <a:xfrm>
            <a:off x="617220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MLP classifier</a:t>
            </a:r>
            <a:endParaRPr lang="en-US" sz="1600" dirty="0"/>
          </a:p>
        </p:txBody>
      </p:sp>
      <p:sp>
        <p:nvSpPr>
          <p:cNvPr id="22" name="step 4 text"/>
          <p:cNvSpPr txBox="1"/>
          <p:nvPr/>
        </p:nvSpPr>
        <p:spPr>
          <a:xfrm>
            <a:off x="6172200" y="32918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4-class prediction per sample</a:t>
            </a:r>
            <a:endParaRPr lang="en-US" sz="1300" dirty="0"/>
          </a:p>
        </p:txBody>
      </p:sp>
      <p:sp>
        <p:nvSpPr>
          <p:cNvPr id="23" name="step 5 circle"/>
          <p:cNvSpPr/>
          <p:nvPr/>
        </p:nvSpPr>
        <p:spPr>
          <a:xfrm>
            <a:off x="8435340" y="173736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5652" y="1947672"/>
            <a:ext cx="493776" cy="493776"/>
          </a:xfrm>
          <a:prstGeom prst="rect">
            <a:avLst/>
          </a:prstGeom>
        </p:spPr>
      </p:pic>
      <p:sp>
        <p:nvSpPr>
          <p:cNvPr id="25" name="step 5 arrow"/>
          <p:cNvSpPr/>
          <p:nvPr/>
        </p:nvSpPr>
        <p:spPr>
          <a:xfrm>
            <a:off x="9441180" y="2194560"/>
            <a:ext cx="777240" cy="0"/>
          </a:xfrm>
          <a:prstGeom prst="line">
            <a:avLst/>
          </a:prstGeom>
          <a:noFill/>
          <a:ln w="19050">
            <a:solidFill>
              <a:srgbClr val="8A8F9C"/>
            </a:solidFill>
            <a:prstDash val="solid"/>
            <a:tailEnd type="triangle"/>
          </a:ln>
        </p:spPr>
      </p:sp>
      <p:sp>
        <p:nvSpPr>
          <p:cNvPr id="26" name="step 5 heading"/>
          <p:cNvSpPr txBox="1"/>
          <p:nvPr/>
        </p:nvSpPr>
        <p:spPr>
          <a:xfrm>
            <a:off x="804672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Persistence filter</a:t>
            </a:r>
            <a:endParaRPr lang="en-US" sz="1600" dirty="0"/>
          </a:p>
        </p:txBody>
      </p:sp>
      <p:sp>
        <p:nvSpPr>
          <p:cNvPr id="27" name="step 5 text"/>
          <p:cNvSpPr txBox="1"/>
          <p:nvPr/>
        </p:nvSpPr>
        <p:spPr>
          <a:xfrm>
            <a:off x="8046720" y="32918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Alert after 3 abnormal windows, re-alert on escalation</a:t>
            </a:r>
            <a:endParaRPr lang="en-US" sz="1300" dirty="0"/>
          </a:p>
        </p:txBody>
      </p:sp>
      <p:sp>
        <p:nvSpPr>
          <p:cNvPr id="28" name="step 6 circle"/>
          <p:cNvSpPr/>
          <p:nvPr/>
        </p:nvSpPr>
        <p:spPr>
          <a:xfrm>
            <a:off x="10309860" y="173736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172" y="1947672"/>
            <a:ext cx="493776" cy="493776"/>
          </a:xfrm>
          <a:prstGeom prst="rect">
            <a:avLst/>
          </a:prstGeom>
        </p:spPr>
      </p:pic>
      <p:sp>
        <p:nvSpPr>
          <p:cNvPr id="30" name="step 6 heading"/>
          <p:cNvSpPr txBox="1"/>
          <p:nvPr/>
        </p:nvSpPr>
        <p:spPr>
          <a:xfrm>
            <a:off x="992124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31" name="step 6 text"/>
          <p:cNvSpPr txBox="1"/>
          <p:nvPr/>
        </p:nvSpPr>
        <p:spPr>
          <a:xfrm>
            <a:off x="9921240" y="32918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Ward replay with true and false alarms</a:t>
            </a:r>
            <a:endParaRPr lang="en-US" sz="1300" dirty="0"/>
          </a:p>
        </p:txBody>
      </p:sp>
      <p:sp>
        <p:nvSpPr>
          <p:cNvPr id="32" name="files card"/>
          <p:cNvSpPr/>
          <p:nvPr/>
        </p:nvSpPr>
        <p:spPr>
          <a:xfrm>
            <a:off x="548640" y="4572000"/>
            <a:ext cx="1106424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files text"/>
          <p:cNvSpPr txBox="1"/>
          <p:nvPr/>
        </p:nvSpPr>
        <p:spPr>
          <a:xfrm>
            <a:off x="822960" y="47091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generate_data.py (simulator), train_models.py (training and evaluation), infer_demo.py (live loop), export_dashboard.py and dashboard/ (replay UI), make_figures.py (charts), test_pipeline.py (smoke check).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Dataset: 30 simulated patients, 6 hours each</a:t>
            </a:r>
            <a:endParaRPr lang="en-US" sz="3200" dirty="0"/>
          </a:p>
        </p:txBody>
      </p:sp>
      <p:graphicFrame>
        <p:nvGraphicFramePr>
          <p:cNvPr id="3" name="class distribution chart" descr=""/>
          <p:cNvGraphicFramePr/>
          <p:nvPr/>
        </p:nvGraphicFramePr>
        <p:xfrm>
          <a:off x="548640" y="132588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ataset text"/>
          <p:cNvSpPr txBox="1"/>
          <p:nvPr/>
        </p:nvSpPr>
        <p:spPr>
          <a:xfrm>
            <a:off x="6858000" y="1371600"/>
            <a:ext cx="4754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64,800 samples, 64,650 windows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 sample every 10 s per patient.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What the simulator injects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Activity bouts (rest, walk, run) that raise heart rate and temperature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Tachycardia, bradycardia, fever and hypothermia, each in a warning and a critical grade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Sensor faults: dropout, spike and stuck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First-order physiological lag, sensor noise and a per-patient temperature bias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Features and evaluation protocol</a:t>
            </a:r>
            <a:endParaRPr lang="en-US" sz="3200" dirty="0"/>
          </a:p>
        </p:txBody>
      </p:sp>
      <p:graphicFrame>
        <p:nvGraphicFramePr>
          <p:cNvPr id="7" name="fe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Features (window of 6 samples)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Heart rate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last, mean, std, min, max, slope, last change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Temperature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last, mean, std, min, max, slope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Motion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mean, max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eature note"/>
          <p:cNvSpPr txBox="1"/>
          <p:nvPr/>
        </p:nvSpPr>
        <p:spPr>
          <a:xfrm>
            <a:off x="548640" y="35661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 features per window, identical code path in training and live inference (checked by test_pipeline.py).</a:t>
            </a:r>
            <a:endParaRPr lang="en-US" sz="1400" dirty="0"/>
          </a:p>
        </p:txBody>
      </p:sp>
      <p:sp>
        <p:nvSpPr>
          <p:cNvPr id="5" name="protocol card"/>
          <p:cNvSpPr/>
          <p:nvPr/>
        </p:nvSpPr>
        <p:spPr>
          <a:xfrm>
            <a:off x="6858000" y="1371600"/>
            <a:ext cx="4754880" cy="448056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6" name="protoco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645920"/>
            <a:ext cx="548640" cy="548640"/>
          </a:xfrm>
          <a:prstGeom prst="rect">
            <a:avLst/>
          </a:prstGeom>
        </p:spPr>
      </p:pic>
      <p:sp>
        <p:nvSpPr>
          <p:cNvPr id="7" name="protocol text"/>
          <p:cNvSpPr txBox="1"/>
          <p:nvPr/>
        </p:nvSpPr>
        <p:spPr>
          <a:xfrm>
            <a:off x="7178040" y="2331720"/>
            <a:ext cx="4160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Patient-wise split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patients train, 10 patients test. No test patient is seen in training.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selection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5-fold GroupKFold cross-validation on the training patients, ranked by macro F1.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Alert metrics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alarms per hour, event recall, critical-event recall and median detection delay over 60 test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MLP deployed: best CV score and fewest false alarms</a:t>
            </a:r>
            <a:endParaRPr lang="en-US" sz="3200" dirty="0"/>
          </a:p>
        </p:txBody>
      </p:sp>
      <p:graphicFrame>
        <p:nvGraphicFramePr>
          <p:cNvPr id="3" name="model macro f1 chart" descr=""/>
          <p:cNvGraphicFramePr/>
          <p:nvPr/>
        </p:nvGraphicFramePr>
        <p:xfrm>
          <a:off x="548640" y="13258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297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CV F1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False alarms/h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Threshold rule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9.6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Logistic Reg.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0.381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4.5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Gradient Boost.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0.862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10.4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0.869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40"/>
                          </a:solidFill>
                        </a:rPr>
                        <a:t>6.7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MLP (deployed)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0.874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3.8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model note"/>
          <p:cNvSpPr txBox="1"/>
          <p:nvPr/>
        </p:nvSpPr>
        <p:spPr>
          <a:xfrm>
            <a:off x="7315200" y="4251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CV F1 picks the deployed model before the test set is touched. On test, Random Forest edges macro F1 (0.895) but raises 1.8x the false alarms. Logistic regression fails: the classes are not linearly separable 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each method makes its mistakes</a:t>
            </a:r>
            <a:endParaRPr lang="en-US" sz="3200" dirty="0"/>
          </a:p>
        </p:txBody>
      </p:sp>
      <p:pic>
        <p:nvPicPr>
          <p:cNvPr id="3" name="confusion matrices" descr="F:/Coding/PROJECTS/bidhu/AI_Health_Monitoring_Code_and_Model/figures/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3436764"/>
          </a:xfrm>
          <a:prstGeom prst="rect">
            <a:avLst/>
          </a:prstGeom>
        </p:spPr>
      </p:pic>
      <p:sp>
        <p:nvSpPr>
          <p:cNvPr id="4" name="confusion notes"/>
          <p:cNvSpPr txBox="1"/>
          <p:nvPr/>
        </p:nvSpPr>
        <p:spPr>
          <a:xfrm>
            <a:off x="8503920" y="137160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Rule: 25% of normal windows called Warning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Mostly exercise, which the rule cannot see.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AI: 98% of normal windows correct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Critical recall rises from 79% to 94%.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Weak spot: sensor faults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27% of fault windows still read as normal, mostly stuck-value faults.</a:t>
            </a:r>
            <a:endParaRPr lang="en-US" sz="1400" dirty="0"/>
          </a:p>
        </p:txBody>
      </p:sp>
      <p:sp>
        <p:nvSpPr>
          <p:cNvPr id="5" name="confusion caption"/>
          <p:cNvSpPr txBox="1"/>
          <p:nvPr/>
        </p:nvSpPr>
        <p:spPr>
          <a:xfrm>
            <a:off x="548640" y="4937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Rows are normalised: each row shows how windows of that true class were predicted.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Per-class recall: AI vs threshold rule</a:t>
            </a:r>
            <a:endParaRPr lang="en-US" sz="3200" dirty="0"/>
          </a:p>
        </p:txBody>
      </p:sp>
      <p:graphicFrame>
        <p:nvGraphicFramePr>
          <p:cNvPr id="3" name="per class recall chart" descr=""/>
          <p:cNvGraphicFramePr/>
          <p:nvPr/>
        </p:nvGraphicFramePr>
        <p:xfrm>
          <a:off x="548640" y="132588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fa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371600"/>
          <a:ext cx="3200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Fault type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AI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Dropout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Spike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23%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66%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Stuck value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</a:rPr>
                        <a:t>37%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ault note"/>
          <p:cNvSpPr txBox="1"/>
          <p:nvPr/>
        </p:nvSpPr>
        <p:spPr>
          <a:xfrm>
            <a:off x="8412480" y="3429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rule only sees dropouts (reading 0). The AI also catches spikes and some stuck readings by looking at variance and trend.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Alert persistence: one-third the false alarms of the rule</a:t>
            </a:r>
            <a:endParaRPr lang="en-US" sz="3200" dirty="0"/>
          </a:p>
        </p:txBody>
      </p:sp>
      <p:graphicFrame>
        <p:nvGraphicFramePr>
          <p:cNvPr id="3" name="persistence chart" descr=""/>
          <p:cNvGraphicFramePr/>
          <p:nvPr/>
        </p:nvGraphicFramePr>
        <p:xfrm>
          <a:off x="548640" y="132588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 tile card"/>
          <p:cNvSpPr/>
          <p:nvPr/>
        </p:nvSpPr>
        <p:spPr>
          <a:xfrm>
            <a:off x="7680960" y="1371600"/>
            <a:ext cx="393192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fa tile value"/>
          <p:cNvSpPr txBox="1"/>
          <p:nvPr/>
        </p:nvSpPr>
        <p:spPr>
          <a:xfrm>
            <a:off x="7955280" y="1554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to 1.1</a:t>
            </a:r>
            <a:endParaRPr lang="en-US" sz="4000" dirty="0"/>
          </a:p>
        </p:txBody>
      </p:sp>
      <p:sp>
        <p:nvSpPr>
          <p:cNvPr id="6" name="fa tile label"/>
          <p:cNvSpPr txBox="1"/>
          <p:nvPr/>
        </p:nvSpPr>
        <p:spPr>
          <a:xfrm>
            <a:off x="795528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false alarms per hour at K=3, rule to AI</a:t>
            </a:r>
            <a:endParaRPr lang="en-US" sz="1400" dirty="0"/>
          </a:p>
        </p:txBody>
      </p:sp>
      <p:sp>
        <p:nvSpPr>
          <p:cNvPr id="7" name="delay tile card"/>
          <p:cNvSpPr/>
          <p:nvPr/>
        </p:nvSpPr>
        <p:spPr>
          <a:xfrm>
            <a:off x="7680960" y="3108960"/>
            <a:ext cx="393192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delay tile value"/>
          <p:cNvSpPr txBox="1"/>
          <p:nvPr/>
        </p:nvSpPr>
        <p:spPr>
          <a:xfrm>
            <a:off x="7955280" y="3291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</a:t>
            </a:r>
            <a:endParaRPr lang="en-US" sz="4000" dirty="0"/>
          </a:p>
        </p:txBody>
      </p:sp>
      <p:sp>
        <p:nvSpPr>
          <p:cNvPr id="9" name="delay tile label"/>
          <p:cNvSpPr txBox="1"/>
          <p:nvPr/>
        </p:nvSpPr>
        <p:spPr>
          <a:xfrm>
            <a:off x="7955280" y="4069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median detection delay at K=3 (rule: 50 s)</a:t>
            </a:r>
            <a:endParaRPr lang="en-US" sz="1400" dirty="0"/>
          </a:p>
        </p:txBody>
      </p:sp>
      <p:sp>
        <p:nvSpPr>
          <p:cNvPr id="10" name="persistence note"/>
          <p:cNvSpPr txBox="1"/>
          <p:nvPr/>
        </p:nvSpPr>
        <p:spPr>
          <a:xfrm>
            <a:off x="7680960" y="4892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At K=3 the AI still catches 100% of the 64 test events. The live loop uses K=3.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it works: motion gives context</a:t>
            </a:r>
            <a:endParaRPr lang="en-US" sz="3200" dirty="0"/>
          </a:p>
        </p:txBody>
      </p:sp>
      <p:graphicFrame>
        <p:nvGraphicFramePr>
          <p:cNvPr id="3" name="importance chart" descr=""/>
          <p:cNvGraphicFramePr/>
          <p:nvPr/>
        </p:nvGraphicFramePr>
        <p:xfrm>
          <a:off x="548640" y="13258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blation tile card"/>
          <p:cNvSpPr/>
          <p:nvPr/>
        </p:nvSpPr>
        <p:spPr>
          <a:xfrm>
            <a:off x="7040880" y="1371600"/>
            <a:ext cx="457200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ablation tile value"/>
          <p:cNvSpPr txBox="1"/>
          <p:nvPr/>
        </p:nvSpPr>
        <p:spPr>
          <a:xfrm>
            <a:off x="7315200" y="1554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0.889 to 0.843</a:t>
            </a:r>
            <a:endParaRPr lang="en-US" sz="4000" dirty="0"/>
          </a:p>
        </p:txBody>
      </p:sp>
      <p:sp>
        <p:nvSpPr>
          <p:cNvPr id="6" name="ablation tile label"/>
          <p:cNvSpPr txBox="1"/>
          <p:nvPr/>
        </p:nvSpPr>
        <p:spPr>
          <a:xfrm>
            <a:off x="7315200" y="2331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macro F1 when motion features are removed</a:t>
            </a:r>
            <a:endParaRPr lang="en-US" sz="1400" dirty="0"/>
          </a:p>
        </p:txBody>
      </p:sp>
      <p:sp>
        <p:nvSpPr>
          <p:cNvPr id="7" name="iforest tile card"/>
          <p:cNvSpPr/>
          <p:nvPr/>
        </p:nvSpPr>
        <p:spPr>
          <a:xfrm>
            <a:off x="7040880" y="3108960"/>
            <a:ext cx="457200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iforest tile value"/>
          <p:cNvSpPr txBox="1"/>
          <p:nvPr/>
        </p:nvSpPr>
        <p:spPr>
          <a:xfrm>
            <a:off x="7315200" y="3291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0.90</a:t>
            </a:r>
            <a:endParaRPr lang="en-US" sz="4000" dirty="0"/>
          </a:p>
        </p:txBody>
      </p:sp>
      <p:sp>
        <p:nvSpPr>
          <p:cNvPr id="9" name="iforest tile label"/>
          <p:cNvSpPr txBox="1"/>
          <p:nvPr/>
        </p:nvSpPr>
        <p:spPr>
          <a:xfrm>
            <a:off x="7315200" y="4069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unsupervised Isolation Forest, but only 14% recall at a 2% false-positive budget</a:t>
            </a:r>
            <a:endParaRPr lang="en-US" sz="1400" dirty="0"/>
          </a:p>
        </p:txBody>
      </p:sp>
      <p:sp>
        <p:nvSpPr>
          <p:cNvPr id="10" name="binary note"/>
          <p:cNvSpPr txBox="1"/>
          <p:nvPr/>
        </p:nvSpPr>
        <p:spPr>
          <a:xfrm>
            <a:off x="704088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Supervised AI as abnormal-vs-normal detector: F1 0.92 (rule 0.65).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Ward telemetry dashboard</a:t>
            </a:r>
            <a:endParaRPr lang="en-US" sz="3200" dirty="0"/>
          </a:p>
        </p:txBody>
      </p:sp>
      <p:pic>
        <p:nvPicPr>
          <p:cNvPr id="3" name="dashboard screenshot" descr="dash_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3960495"/>
          </a:xfrm>
          <a:prstGeom prst="rect">
            <a:avLst/>
          </a:prstGeom>
        </p:spPr>
      </p:pic>
      <p:sp>
        <p:nvSpPr>
          <p:cNvPr id="4" name="dashboard notes"/>
          <p:cNvSpPr txBox="1"/>
          <p:nvPr/>
        </p:nvSpPr>
        <p:spPr>
          <a:xfrm>
            <a:off x="8503920" y="137160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Replays the 10 test patients through the same live loop as infer_demo.py.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Strip chart of the last hour, live readouts, and what the AI, the rule and the ground truth each say.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 log marks every alert as a true or a false alarm.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Static HTML: open dashboard/index.html, no server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Small and fast enough for an edge device</a:t>
            </a:r>
            <a:endParaRPr lang="en-US" sz="3200" dirty="0"/>
          </a:p>
        </p:txBody>
      </p:sp>
      <p:sp>
        <p:nvSpPr>
          <p:cNvPr id="3" name="latency tile card"/>
          <p:cNvSpPr/>
          <p:nvPr/>
        </p:nvSpPr>
        <p:spPr>
          <a:xfrm>
            <a:off x="548640" y="1371600"/>
            <a:ext cx="347472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latency tile value"/>
          <p:cNvSpPr txBox="1"/>
          <p:nvPr/>
        </p:nvSpPr>
        <p:spPr>
          <a:xfrm>
            <a:off x="82296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ms</a:t>
            </a:r>
            <a:endParaRPr lang="en-US" sz="4000" dirty="0"/>
          </a:p>
        </p:txBody>
      </p:sp>
      <p:sp>
        <p:nvSpPr>
          <p:cNvPr id="5" name="latency tile label"/>
          <p:cNvSpPr txBox="1"/>
          <p:nvPr/>
        </p:nvSpPr>
        <p:spPr>
          <a:xfrm>
            <a:off x="82296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 single prediction on a laptop CPU</a:t>
            </a:r>
            <a:endParaRPr lang="en-US" sz="1400" dirty="0"/>
          </a:p>
        </p:txBody>
      </p:sp>
      <p:sp>
        <p:nvSpPr>
          <p:cNvPr id="6" name="size tile card"/>
          <p:cNvSpPr/>
          <p:nvPr/>
        </p:nvSpPr>
        <p:spPr>
          <a:xfrm>
            <a:off x="4343400" y="1371600"/>
            <a:ext cx="347472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ize tile value"/>
          <p:cNvSpPr txBox="1"/>
          <p:nvPr/>
        </p:nvSpPr>
        <p:spPr>
          <a:xfrm>
            <a:off x="461772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KB</a:t>
            </a:r>
            <a:endParaRPr lang="en-US" sz="4000" dirty="0"/>
          </a:p>
        </p:txBody>
      </p:sp>
      <p:sp>
        <p:nvSpPr>
          <p:cNvPr id="8" name="size tile label"/>
          <p:cNvSpPr txBox="1"/>
          <p:nvPr/>
        </p:nvSpPr>
        <p:spPr>
          <a:xfrm>
            <a:off x="46177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serialised model (joblib)</a:t>
            </a:r>
            <a:endParaRPr lang="en-US" sz="1400" dirty="0"/>
          </a:p>
        </p:txBody>
      </p:sp>
      <p:sp>
        <p:nvSpPr>
          <p:cNvPr id="9" name="interval tile card"/>
          <p:cNvSpPr/>
          <p:nvPr/>
        </p:nvSpPr>
        <p:spPr>
          <a:xfrm>
            <a:off x="8138160" y="1371600"/>
            <a:ext cx="347472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interval tile value"/>
          <p:cNvSpPr txBox="1"/>
          <p:nvPr/>
        </p:nvSpPr>
        <p:spPr>
          <a:xfrm>
            <a:off x="8412480" y="1554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</a:t>
            </a:r>
            <a:endParaRPr lang="en-US" sz="4000" dirty="0"/>
          </a:p>
        </p:txBody>
      </p:sp>
      <p:sp>
        <p:nvSpPr>
          <p:cNvPr id="11" name="interval tile label"/>
          <p:cNvSpPr txBox="1"/>
          <p:nvPr/>
        </p:nvSpPr>
        <p:spPr>
          <a:xfrm>
            <a:off x="841248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sampling interval, so the model idles over 99.99% of the time</a:t>
            </a:r>
            <a:endParaRPr lang="en-US" sz="1400" dirty="0"/>
          </a:p>
        </p:txBody>
      </p:sp>
      <p:sp>
        <p:nvSpPr>
          <p:cNvPr id="12" name="deployment text"/>
          <p:cNvSpPr txBox="1"/>
          <p:nvPr/>
        </p:nvSpPr>
        <p:spPr>
          <a:xfrm>
            <a:off x="548640" y="333756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Live loop (infer_demo.py)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Rolling 6-sample buffer, one prediction per incoming sample.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 after 3 consecutive abnormal windows; re-alert only if the episode escalates (Warning to Critical), so de-escalation does not spam staff.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test_pipeline.py checks that live features equal training features and that the alert logic behaves as specified.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future work</a:t>
            </a:r>
            <a:endParaRPr lang="en-US" sz="3200" dirty="0"/>
          </a:p>
        </p:txBody>
      </p:sp>
      <p:sp>
        <p:nvSpPr>
          <p:cNvPr id="3" name="limitations card"/>
          <p:cNvSpPr/>
          <p:nvPr/>
        </p:nvSpPr>
        <p:spPr>
          <a:xfrm>
            <a:off x="548640" y="1371600"/>
            <a:ext cx="539496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limitations text"/>
          <p:cNvSpPr txBox="1"/>
          <p:nvPr/>
        </p:nvSpPr>
        <p:spPr>
          <a:xfrm>
            <a:off x="822960" y="16916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Simulated data: metrics are optimistic and are not clinical evidence.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Labels come from the simulator, not clinicians.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Stuck-value faults remain the weakest class.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Only three signals; no SpO2, ECG morphology or blood pressure.</a:t>
            </a:r>
            <a:endParaRPr lang="en-US" sz="1800" dirty="0"/>
          </a:p>
        </p:txBody>
      </p:sp>
      <p:sp>
        <p:nvSpPr>
          <p:cNvPr id="5" name="future card"/>
          <p:cNvSpPr/>
          <p:nvPr/>
        </p:nvSpPr>
        <p:spPr>
          <a:xfrm>
            <a:off x="6217920" y="1371600"/>
            <a:ext cx="539496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future text"/>
          <p:cNvSpPr txBox="1"/>
          <p:nvPr/>
        </p:nvSpPr>
        <p:spPr>
          <a:xfrm>
            <a:off x="6492240" y="16916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work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Re-validate on real wearable recordings (e.g. PhysioNet, MIMIC waveform data).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SpO2 and respiration rate; per-patient baseline calibration.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Dedicated stuck-sensor check (zero variance over a window).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Port the model to a microcontroller and stream to the dashboard live.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Context beats thresholds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On 10 unseen patients the AI reaches 95.4% accuracy, flags 0.2% of healthy exercise (rule: 94%), and cuts false alarms from 3.0 to 1.1 per hour while catching every critical event.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d Telemetry">
  <a:themeElements>
    <a:clrScheme name="Ward Telemetry">
      <a:dk1>
        <a:srgbClr val="1B2540"/>
      </a:dk1>
      <a:lt1>
        <a:srgbClr val="FFFFFF"/>
      </a:lt1>
      <a:dk2>
        <a:srgbClr val="545D72"/>
      </a:dk2>
      <a:lt2>
        <a:srgbClr val="F4F6FA"/>
      </a:lt2>
      <a:accent1>
        <a:srgbClr val="D03B3B"/>
      </a:accent1>
      <a:accent2>
        <a:srgbClr val="0F8A3C"/>
      </a:accent2>
      <a:accent3>
        <a:srgbClr val="FAB219"/>
      </a:accent3>
      <a:accent4>
        <a:srgbClr val="6250D6"/>
      </a:accent4>
      <a:accent5>
        <a:srgbClr val="2A78D6"/>
      </a:accent5>
      <a:accent6>
        <a:srgbClr val="8A8F9C"/>
      </a:accent6>
      <a:hlink>
        <a:srgbClr val="2A78D6"/>
      </a:hlink>
      <a:folHlink>
        <a:srgbClr val="6250D6"/>
      </a:folHlink>
    </a:clrScheme>
    <a:fontScheme name="Ward Telemet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Health Monitoring System: Project Report</dc:title>
  <dc:subject>Wearable vitals classification and alerting</dc:subject>
  <dc:creator>PptxGenJS</dc:creator>
  <cp:lastModifiedBy>PptxGenJS</cp:lastModifiedBy>
  <cp:revision>1</cp:revision>
  <dcterms:created xsi:type="dcterms:W3CDTF">2026-10-19T14:43:31Z</dcterms:created>
  <dcterms:modified xsi:type="dcterms:W3CDTF">2026-10-19T14:43:31Z</dcterms:modified>
</cp:coreProperties>
</file>